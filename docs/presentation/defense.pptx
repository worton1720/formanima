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D96E2E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6DC"/>
                </a:solidFill>
                <a:latin typeface="Calibri"/>
              </a:rPr>
              <a:t>Разработка веб-приложения для трекинга привычек и целей с элементами геймификации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E8B44A"/>
                </a:solidFill>
                <a:latin typeface="Calibri"/>
              </a:rPr>
              <a:t>Проект FORMANIMA  ·  Vue 3 + NestJS + Prisma +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A99E8E"/>
                </a:solidFill>
                <a:latin typeface="Calibri"/>
              </a:rPr>
              <a:t>Выполнил: ____________________,  группа ________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A99E8E"/>
                </a:solidFill>
                <a:latin typeface="Calibri"/>
              </a:rPr>
              <a:t>Научный руководитель: ____________________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A99E8E"/>
                </a:solidFill>
                <a:latin typeface="Calibri"/>
              </a:rPr>
              <a:t>____________________________________  (вуз)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A99E8E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900" b="0" i="0">
                <a:solidFill>
                  <a:srgbClr val="ECE6DC"/>
                </a:solidFill>
                <a:latin typeface="Calibri"/>
              </a:rPr>
              <a:t>Для кого: пользователи, формирующие полезные привычки и достигающие личных целей — студенты, специалисты, все, кто следит за продуктивностью и здоровьем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900" b="0" i="0">
                <a:solidFill>
                  <a:srgbClr val="ECE6DC"/>
                </a:solidFill>
                <a:latin typeface="Calibri"/>
              </a:rPr>
              <a:t>Цель: разработать веб-приложение для трекинга привычек и целей с элементами геймификации, мотивирующее пользователя регулярно выполнять свои цели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900" b="0" i="0">
                <a:solidFill>
                  <a:srgbClr val="ECE6DC"/>
                </a:solidFill>
                <a:latin typeface="Calibri"/>
              </a:rPr>
              <a:t>Задачи:</a:t>
            </a:r>
          </a:p>
          <a:p>
            <a:pPr lvl="1">
              <a:spcAft>
                <a:spcPts val="900"/>
              </a:spcAft>
            </a:pPr>
            <a:r>
              <a:rPr sz="1900" b="1" i="0">
                <a:solidFill>
                  <a:srgbClr val="D96E2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A99E8E"/>
                </a:solidFill>
                <a:latin typeface="Calibri"/>
              </a:rPr>
              <a:t>проанализировать предметную область и существующие аналоги</a:t>
            </a:r>
          </a:p>
          <a:p>
            <a:pPr lvl="1">
              <a:spcAft>
                <a:spcPts val="900"/>
              </a:spcAft>
            </a:pPr>
            <a:r>
              <a:rPr sz="1900" b="1" i="0">
                <a:solidFill>
                  <a:srgbClr val="D96E2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A99E8E"/>
                </a:solidFill>
                <a:latin typeface="Calibri"/>
              </a:rPr>
              <a:t>спроектировать архитектуру системы и базу данных</a:t>
            </a:r>
          </a:p>
          <a:p>
            <a:pPr lvl="1">
              <a:spcAft>
                <a:spcPts val="900"/>
              </a:spcAft>
            </a:pPr>
            <a:r>
              <a:rPr sz="1900" b="1" i="0">
                <a:solidFill>
                  <a:srgbClr val="D96E2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A99E8E"/>
                </a:solidFill>
                <a:latin typeface="Calibri"/>
              </a:rPr>
              <a:t>реализовать модули: клиент (SPA), серверный REST API, движок геймификации</a:t>
            </a:r>
          </a:p>
          <a:p>
            <a:pPr lvl="1">
              <a:spcAft>
                <a:spcPts val="900"/>
              </a:spcAft>
            </a:pPr>
            <a:r>
              <a:rPr sz="1900" b="1" i="0">
                <a:solidFill>
                  <a:srgbClr val="D96E2E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A99E8E"/>
                </a:solidFill>
                <a:latin typeface="Calibri"/>
              </a:rPr>
              <a:t>протестировать систему и оценить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Актуальность 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D96E2E"/>
                </a:solidFill>
                <a:latin typeface="Calibri"/>
              </a:rPr>
              <a:t>Зачем это нужно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ECE6DC"/>
                </a:solidFill>
                <a:latin typeface="Calibri"/>
              </a:rPr>
              <a:t>Цифровое благополучие и продуктивность — растущий тренд: люди массово ставят цели и заводят полезные привычки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ECE6DC"/>
                </a:solidFill>
                <a:latin typeface="Calibri"/>
              </a:rPr>
              <a:t>Главная проблема — удержание: по исследованию Ф. Лалли (2010) привычка закрепляется в среднем за 66 дней, а большинство бросает раньше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ECE6DC"/>
                </a:solidFill>
                <a:latin typeface="Calibri"/>
              </a:rPr>
              <a:t>Приложение хранит персональные данные (e-mail, пароль) → защита обязательна по ФЗ-152 «О персональных данных»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ECE6DC"/>
                </a:solidFill>
                <a:latin typeface="Calibri"/>
              </a:rPr>
              <a:t>Решение — геймификация на открытом стеке (курс на импортозамещение)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463040"/>
            <a:ext cx="4023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A99E8E"/>
                </a:solidFill>
                <a:latin typeface="Calibri"/>
              </a:rPr>
              <a:t>Дней до автоматизма привычки
(Ф. Лалли, 2010)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5335920"/>
            <a:ext cx="868680" cy="241920"/>
          </a:xfrm>
          <a:prstGeom prst="rect">
            <a:avLst/>
          </a:prstGeom>
          <a:solidFill>
            <a:srgbClr val="A9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492444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A99E8E"/>
                </a:solidFill>
                <a:latin typeface="Calibr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562356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A99E8E"/>
                </a:solidFill>
                <a:latin typeface="Calibri"/>
              </a:rPr>
              <a:t>миф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4817520"/>
            <a:ext cx="868680" cy="76032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440604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8B44A"/>
                </a:solidFill>
                <a:latin typeface="Calibri"/>
              </a:rPr>
              <a:t>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562356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A99E8E"/>
                </a:solidFill>
                <a:latin typeface="Calibri"/>
              </a:rPr>
              <a:t>реальность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2651760"/>
            <a:ext cx="868680" cy="2926080"/>
          </a:xfrm>
          <a:prstGeom prst="rect">
            <a:avLst/>
          </a:prstGeom>
          <a:solidFill>
            <a:srgbClr val="D9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24028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D96E2E"/>
                </a:solidFill>
                <a:latin typeface="Calibri"/>
              </a:rPr>
              <a:t>254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5623560"/>
            <a:ext cx="1325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A99E8E"/>
                </a:solidFill>
                <a:latin typeface="Calibri"/>
              </a:rPr>
              <a:t>максимум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Предметная область: сущности и процессы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ECE6DC"/>
                </a:solidFill>
                <a:latin typeface="Calibri"/>
              </a:rPr>
              <a:t>Область — формирование и удержание полезных привычек и достижение личных целей пользователя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ECE6DC"/>
                </a:solidFill>
                <a:latin typeface="Calibri"/>
              </a:rPr>
              <a:t>Участники: Пользователь (ведёт привычки и цели) и Администратор (управляет пользователями)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800" b="0" i="0">
                <a:solidFill>
                  <a:srgbClr val="ECE6DC"/>
                </a:solidFill>
                <a:latin typeface="Calibri"/>
              </a:rPr>
              <a:t>Базовые процессы: регистрация → создание привычки или цели → ежедневная отметка выполнения → автоматический пересчёт прогресса → просмотр статистики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E8B44A"/>
                </a:solidFill>
                <a:latin typeface="Calibri"/>
              </a:rPr>
              <a:t>Ключевые сущности системы: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526280"/>
            <a:ext cx="1828800" cy="64008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Пользователь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4526280"/>
            <a:ext cx="1389888" cy="64008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Привычка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4568" y="4526280"/>
            <a:ext cx="1389888" cy="64008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Действие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4526280"/>
            <a:ext cx="950976" cy="64008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Цель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2632" y="4526280"/>
            <a:ext cx="1280160" cy="64008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Отметка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4526280"/>
            <a:ext cx="1609344" cy="64008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Достижение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349240"/>
            <a:ext cx="2157984" cy="64008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Игровой профиль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Текущий процесс (AS-IS) и нормативная база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68880" y="2651760"/>
            <a:ext cx="3291840" cy="1280160"/>
          </a:xfrm>
          <a:prstGeom prst="roundRect">
            <a:avLst/>
          </a:prstGeom>
          <a:solidFill>
            <a:srgbClr val="1F1B17"/>
          </a:solidFill>
          <a:ln w="22225">
            <a:solidFill>
              <a:srgbClr val="CF5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CF5B4E"/>
                </a:solidFill>
                <a:latin typeface="Calibri"/>
              </a:rPr>
              <a:t>Ведение привычек
вручную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3291840"/>
            <a:ext cx="868680" cy="0"/>
          </a:xfrm>
          <a:prstGeom prst="line">
            <a:avLst/>
          </a:prstGeom>
          <a:ln w="25400">
            <a:solidFill>
              <a:srgbClr val="D96E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" y="2788920"/>
            <a:ext cx="1600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0">
                <a:solidFill>
                  <a:srgbClr val="A99E8E"/>
                </a:solidFill>
                <a:latin typeface="Calibri"/>
              </a:rPr>
              <a:t>желание,
цель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3291840"/>
            <a:ext cx="868680" cy="0"/>
          </a:xfrm>
          <a:prstGeom prst="line">
            <a:avLst/>
          </a:prstGeom>
          <a:ln w="25400">
            <a:solidFill>
              <a:srgbClr val="7FB8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06440" y="278892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A99E8E"/>
                </a:solidFill>
                <a:latin typeface="Calibri"/>
              </a:rPr>
              <a:t>несистемный
результат,
срывы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783080"/>
            <a:ext cx="0" cy="868680"/>
          </a:xfrm>
          <a:prstGeom prst="line">
            <a:avLst/>
          </a:prstGeom>
          <a:ln w="25400">
            <a:solidFill>
              <a:srgbClr val="E8B4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51760" y="13716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A99E8E"/>
                </a:solidFill>
                <a:latin typeface="Calibri"/>
              </a:rPr>
              <a:t>дисциплина, память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114800" y="3931920"/>
            <a:ext cx="0" cy="868680"/>
          </a:xfrm>
          <a:prstGeom prst="line">
            <a:avLst/>
          </a:prstGeom>
          <a:ln w="25400">
            <a:solidFill>
              <a:srgbClr val="E8B4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60320" y="397764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A99E8E"/>
                </a:solidFill>
                <a:latin typeface="Calibri"/>
              </a:rPr>
              <a:t>блокнот / заметки в телефоне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30352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CF5B4E"/>
                </a:solidFill>
                <a:latin typeface="Calibri"/>
              </a:rPr>
              <a:t>Минусы: нет автоподсчёта · легко забыть · нет мотивации · нет статистики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60020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E8B44A"/>
                </a:solidFill>
                <a:latin typeface="Calibri"/>
              </a:rPr>
              <a:t>Нормативно-правовая база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10312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ФЗ-152 «О персональных данных»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ФЗ-149 «Об информации, ИТ и о защите информации»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ГОСТ 34.601-90 — стадии создания АС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ГОСТ 34.602-89 — техническое задание на АС</a:t>
            </a:r>
          </a:p>
          <a:p>
            <a:pPr>
              <a:spcAft>
                <a:spcPts val="14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Отраслевые: REST, JWT (RFC 7519), OWASP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Проблема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900" b="0" i="0">
                <a:solidFill>
                  <a:srgbClr val="ECE6DC"/>
                </a:solidFill>
                <a:latin typeface="Calibri"/>
              </a:rPr>
              <a:t>Низкое удержание: большинство бросает новые привычки за 2–3 недели — нет внешней мотивации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900" b="0" i="0">
                <a:solidFill>
                  <a:srgbClr val="ECE6DC"/>
                </a:solidFill>
                <a:latin typeface="Calibri"/>
              </a:rPr>
              <a:t>Ручной учёт ненадёжен: легко забыть отметить, теряется история, нет напоминаний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900" b="0" i="0">
                <a:solidFill>
                  <a:srgbClr val="ECE6DC"/>
                </a:solidFill>
                <a:latin typeface="Calibri"/>
              </a:rPr>
              <a:t>Нет наглядного прогресса: пользователь не видит динамику и теряет интерес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900" b="0" i="0">
                <a:solidFill>
                  <a:srgbClr val="ECE6DC"/>
                </a:solidFill>
                <a:latin typeface="Calibri"/>
              </a:rPr>
              <a:t>Разрозненность: привычки, цели, финансы, питание ведутся в разных приложениях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029200"/>
            <a:ext cx="10424160" cy="1097280"/>
          </a:xfrm>
          <a:prstGeom prst="roundRect">
            <a:avLst/>
          </a:prstGeom>
          <a:solidFill>
            <a:srgbClr val="1F1B17"/>
          </a:solidFill>
          <a:ln w="19050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E8B44A"/>
                </a:solidFill>
                <a:latin typeface="Calibri"/>
              </a:rPr>
              <a:t>Вывод: </a:t>
            </a:r>
            <a:r>
              <a:rPr sz="1800" b="0" i="0">
                <a:solidFill>
                  <a:srgbClr val="ECE6DC"/>
                </a:solidFill>
                <a:latin typeface="Calibri"/>
              </a:rPr>
              <a:t>ручное ведение и разрозненные трекеры не обеспечивают долгую мотивацию → нужна единая система с геймификацией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Требования к системе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D96E2E"/>
                </a:solidFill>
                <a:latin typeface="Calibri"/>
              </a:rPr>
              <a:t>Постановка задачи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349240" cy="466344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83480" cy="466344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E8B44A"/>
                </a:solidFill>
                <a:latin typeface="Calibri"/>
              </a:rPr>
              <a:t>Функциональные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Регистрация и авторизация по ролям (JWT)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Управление привычками, действиями и целями (CRUD)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Ежедневная отметка выполнения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Авто-пересчёт опыта, уровней, рангов, достижений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Статистика: графики, тепловая карта, стрики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Доп. модули: финансы и калории (КБЖУ)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Админ-панель: управление пользователями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D96E2E"/>
                </a:solidFill>
                <a:latin typeface="Calibri"/>
              </a:rPr>
              <a:t>Нефункциональные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4526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Безопасность: хеширование bcrypt, JWT, защита ПДн (ФЗ-152)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Веб-интерфейс (SPA), работа в браузере, адаптивность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Документированный REST API (Swagger, /api/docs)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Модульность и расширяемость (8 модулей NestJS)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400" b="0" i="0">
                <a:solidFill>
                  <a:srgbClr val="ECE6DC"/>
                </a:solidFill>
                <a:latin typeface="Calibri"/>
              </a:rPr>
              <a:t>Открытый стек, запуск в Docker (импортонезависимость)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Концепция ИС: Use Case и модель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E8B44A"/>
                </a:solidFill>
                <a:latin typeface="Calibri"/>
              </a:rPr>
              <a:t>Диаграмма вариантов использования</a:t>
            </a:r>
          </a:p>
        </p:txBody>
      </p:sp>
      <p:sp>
        <p:nvSpPr>
          <p:cNvPr id="5" name="Oval 4"/>
          <p:cNvSpPr/>
          <p:nvPr/>
        </p:nvSpPr>
        <p:spPr>
          <a:xfrm>
            <a:off x="996696" y="2651760"/>
            <a:ext cx="292608" cy="292608"/>
          </a:xfrm>
          <a:prstGeom prst="ellipse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905256" y="2962656"/>
            <a:ext cx="475488" cy="457200"/>
          </a:xfrm>
          <a:prstGeom prst="triangle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438144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Пользователь</a:t>
            </a:r>
          </a:p>
        </p:txBody>
      </p:sp>
      <p:sp>
        <p:nvSpPr>
          <p:cNvPr id="8" name="Oval 7"/>
          <p:cNvSpPr/>
          <p:nvPr/>
        </p:nvSpPr>
        <p:spPr>
          <a:xfrm>
            <a:off x="2331720" y="2148840"/>
            <a:ext cx="2468880" cy="566928"/>
          </a:xfrm>
          <a:prstGeom prst="ellipse">
            <a:avLst/>
          </a:prstGeom>
          <a:solidFill>
            <a:srgbClr val="1F1B17"/>
          </a:solidFill>
          <a:ln w="12700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Вход и регистрация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417320" y="2432304"/>
            <a:ext cx="914400" cy="539496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331720" y="2880360"/>
            <a:ext cx="2468880" cy="566928"/>
          </a:xfrm>
          <a:prstGeom prst="ellipse">
            <a:avLst/>
          </a:prstGeom>
          <a:solidFill>
            <a:srgbClr val="1F1B17"/>
          </a:solidFill>
          <a:ln w="12700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Вести привычки и цели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2971800"/>
            <a:ext cx="914400" cy="192024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31720" y="3611880"/>
            <a:ext cx="2468880" cy="566928"/>
          </a:xfrm>
          <a:prstGeom prst="ellipse">
            <a:avLst/>
          </a:prstGeom>
          <a:solidFill>
            <a:srgbClr val="1F1B17"/>
          </a:solidFill>
          <a:ln w="12700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Отмечать выполнение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2971800"/>
            <a:ext cx="914400" cy="923544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331720" y="4434840"/>
            <a:ext cx="2468880" cy="566928"/>
          </a:xfrm>
          <a:prstGeom prst="ellipse">
            <a:avLst/>
          </a:prstGeom>
          <a:solidFill>
            <a:srgbClr val="1F1B17"/>
          </a:solidFill>
          <a:ln w="12700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Смотреть статистику
и достижения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2971800"/>
            <a:ext cx="914400" cy="1746504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331720" y="5257800"/>
            <a:ext cx="2468880" cy="566928"/>
          </a:xfrm>
          <a:prstGeom prst="ellipse">
            <a:avLst/>
          </a:prstGeom>
          <a:solidFill>
            <a:srgbClr val="1F1B17"/>
          </a:solidFill>
          <a:ln w="12700">
            <a:solidFill>
              <a:srgbClr val="D9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Управление
пользователями</a:t>
            </a:r>
          </a:p>
        </p:txBody>
      </p:sp>
      <p:sp>
        <p:nvSpPr>
          <p:cNvPr id="17" name="Oval 16"/>
          <p:cNvSpPr/>
          <p:nvPr/>
        </p:nvSpPr>
        <p:spPr>
          <a:xfrm>
            <a:off x="5385816" y="5074920"/>
            <a:ext cx="292608" cy="292608"/>
          </a:xfrm>
          <a:prstGeom prst="ellipse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5294376" y="5385816"/>
            <a:ext cx="475488" cy="457200"/>
          </a:xfrm>
          <a:prstGeom prst="triangle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861304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Админ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800600" y="5532120"/>
            <a:ext cx="457200" cy="9144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E8B44A"/>
                </a:solidFill>
                <a:latin typeface="Calibri"/>
              </a:rPr>
              <a:t>Модель данных (ER), 13 сущностей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1554480" cy="640080"/>
          </a:xfrm>
          <a:prstGeom prst="roundRect">
            <a:avLst/>
          </a:prstGeom>
          <a:solidFill>
            <a:srgbClr val="D96E2E"/>
          </a:solidFill>
          <a:ln w="19050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41210"/>
                </a:solidFill>
                <a:latin typeface="Calibri"/>
              </a:rPr>
              <a:t>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920240"/>
            <a:ext cx="1783080" cy="658368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A9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UserRank
(опыт/уровень)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338060" y="2249424"/>
            <a:ext cx="1668780" cy="1316736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06690" y="272491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E8B44A"/>
                </a:solidFill>
                <a:latin typeface="Calibri"/>
              </a:rPr>
              <a:t>1—1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83280"/>
            <a:ext cx="1783080" cy="658368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A9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Habit → Action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338060" y="3566160"/>
            <a:ext cx="1668780" cy="146304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06690" y="345643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E8B44A"/>
                </a:solidFill>
                <a:latin typeface="Calibri"/>
              </a:rPr>
              <a:t>1—∞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754880"/>
            <a:ext cx="1783080" cy="658368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A9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Goal → Progress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338060" y="3566160"/>
            <a:ext cx="1668780" cy="1517904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06690" y="414223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E8B44A"/>
                </a:solidFill>
                <a:latin typeface="Calibri"/>
              </a:rPr>
              <a:t>1—∞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1920240"/>
            <a:ext cx="1783080" cy="658368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A9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Achievement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006840" y="2249424"/>
            <a:ext cx="1943100" cy="1316736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12630" y="272491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E8B44A"/>
                </a:solidFill>
                <a:latin typeface="Calibri"/>
              </a:rPr>
              <a:t>1—∞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3383280"/>
            <a:ext cx="1783080" cy="658368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A9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Transaction
/ Budget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06840" y="3566160"/>
            <a:ext cx="1943100" cy="146304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612630" y="345643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E8B44A"/>
                </a:solidFill>
                <a:latin typeface="Calibri"/>
              </a:rPr>
              <a:t>1—∞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754880"/>
            <a:ext cx="1783080" cy="658368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A99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ECE6DC"/>
                </a:solidFill>
                <a:latin typeface="Calibri"/>
              </a:rPr>
              <a:t>FoodEntry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06840" y="3566160"/>
            <a:ext cx="1943100" cy="1517904"/>
          </a:xfrm>
          <a:prstGeom prst="line">
            <a:avLst/>
          </a:prstGeom>
          <a:ln w="12700">
            <a:solidFill>
              <a:srgbClr val="A99E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12630" y="414223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E8B44A"/>
                </a:solidFill>
                <a:latin typeface="Calibri"/>
              </a:rPr>
              <a:t>1—∞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Описание ИС: автоматизированный процесс (TO-BE)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34840" y="2651760"/>
            <a:ext cx="3291840" cy="1051560"/>
          </a:xfrm>
          <a:prstGeom prst="roundRect">
            <a:avLst/>
          </a:prstGeom>
          <a:solidFill>
            <a:srgbClr val="1F1B17"/>
          </a:solidFill>
          <a:ln w="22225">
            <a:solidFill>
              <a:srgbClr val="7F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7FB86B"/>
                </a:solidFill>
                <a:latin typeface="Calibri"/>
              </a:rPr>
              <a:t>Трекинг привычек
с геймификацией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566160" y="3177540"/>
            <a:ext cx="868680" cy="0"/>
          </a:xfrm>
          <a:prstGeom prst="line">
            <a:avLst/>
          </a:prstGeom>
          <a:ln w="25400">
            <a:solidFill>
              <a:srgbClr val="D96E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2674620"/>
            <a:ext cx="1600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0">
                <a:solidFill>
                  <a:srgbClr val="A99E8E"/>
                </a:solidFill>
                <a:latin typeface="Calibri"/>
              </a:rPr>
              <a:t>отметка
выполнения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26680" y="3177540"/>
            <a:ext cx="868680" cy="0"/>
          </a:xfrm>
          <a:prstGeom prst="line">
            <a:avLst/>
          </a:prstGeom>
          <a:ln w="25400">
            <a:solidFill>
              <a:srgbClr val="7FB8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0" y="267462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A99E8E"/>
                </a:solidFill>
                <a:latin typeface="Calibri"/>
              </a:rPr>
              <a:t>прогресс,
уровень,
статистика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783080"/>
            <a:ext cx="0" cy="868680"/>
          </a:xfrm>
          <a:prstGeom prst="line">
            <a:avLst/>
          </a:prstGeom>
          <a:ln w="25400">
            <a:solidFill>
              <a:srgbClr val="E8B4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17720" y="13716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A99E8E"/>
                </a:solidFill>
                <a:latin typeface="Calibri"/>
              </a:rPr>
              <a:t>правила геймификации, ФЗ-152, JWT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80760" y="3703320"/>
            <a:ext cx="0" cy="868680"/>
          </a:xfrm>
          <a:prstGeom prst="line">
            <a:avLst/>
          </a:prstGeom>
          <a:ln w="25400">
            <a:solidFill>
              <a:srgbClr val="E8B4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26280" y="374904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A99E8E"/>
                </a:solidFill>
                <a:latin typeface="Calibri"/>
              </a:rPr>
              <a:t>браузер + Vue + NestJS +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86400"/>
            <a:ext cx="1889699" cy="822960"/>
          </a:xfrm>
          <a:prstGeom prst="roundRect">
            <a:avLst/>
          </a:prstGeom>
          <a:solidFill>
            <a:srgbClr val="1F1B17"/>
          </a:solidFill>
          <a:ln w="15875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Vue 3 + Pinia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2659" y="5486400"/>
            <a:ext cx="274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D96E2E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6979" y="5486400"/>
            <a:ext cx="1889699" cy="822960"/>
          </a:xfrm>
          <a:prstGeom prst="roundRect">
            <a:avLst/>
          </a:prstGeom>
          <a:solidFill>
            <a:srgbClr val="1F1B17"/>
          </a:solidFill>
          <a:ln w="15875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axios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678" y="5486400"/>
            <a:ext cx="274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D96E2E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0998" y="5486400"/>
            <a:ext cx="1889699" cy="822960"/>
          </a:xfrm>
          <a:prstGeom prst="roundRect">
            <a:avLst/>
          </a:prstGeom>
          <a:solidFill>
            <a:srgbClr val="1F1B17"/>
          </a:solidFill>
          <a:ln w="15875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NestJS
+ Guards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697" y="5486400"/>
            <a:ext cx="274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D96E2E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017" y="5486400"/>
            <a:ext cx="1889699" cy="822960"/>
          </a:xfrm>
          <a:prstGeom prst="roundRect">
            <a:avLst/>
          </a:prstGeom>
          <a:solidFill>
            <a:srgbClr val="1F1B17"/>
          </a:solidFill>
          <a:ln w="15875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Prisma 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4716" y="5486400"/>
            <a:ext cx="274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D96E2E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79036" y="5486400"/>
            <a:ext cx="1889699" cy="822960"/>
          </a:xfrm>
          <a:prstGeom prst="roundRect">
            <a:avLst/>
          </a:prstGeom>
          <a:solidFill>
            <a:srgbClr val="1F1B17"/>
          </a:solidFill>
          <a:ln w="15875">
            <a:solidFill>
              <a:srgbClr val="E8B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ECE6DC"/>
                </a:solidFill>
                <a:latin typeface="Calibri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E8B44A"/>
                </a:solidFill>
                <a:latin typeface="Calibri"/>
              </a:rPr>
              <a:t>Архитектура (монорепозиторий, Docker):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Ядро системы: движок геймификации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D96E2E"/>
                </a:solidFill>
                <a:latin typeface="Calibri"/>
              </a:rPr>
              <a:t>Ключевой модуль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ECE6DC"/>
                </a:solidFill>
                <a:latin typeface="Calibri"/>
              </a:rPr>
              <a:t>При каждой отметке выполнения система сама пересчитывает игровые метрики (recalculate)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ECE6DC"/>
                </a:solidFill>
                <a:latin typeface="Calibri"/>
              </a:rPr>
              <a:t>Опыт: страйки × 10 + идеальные дни × 50 + награды достижений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ECE6DC"/>
                </a:solidFill>
                <a:latin typeface="Calibri"/>
              </a:rPr>
              <a:t>Уровень = ⌊√(XP / 100)⌋ + 1 — каждый уровень даётся труднее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ECE6DC"/>
                </a:solidFill>
                <a:latin typeface="Calibri"/>
              </a:rPr>
              <a:t>Ранги: подмастерье → ремесленник → мастер → гроссмейстер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B44A"/>
                </a:solidFill>
                <a:latin typeface="Calibri"/>
              </a:rPr>
              <a:t>▸ </a:t>
            </a:r>
            <a:r>
              <a:rPr sz="1500" b="0" i="0">
                <a:solidFill>
                  <a:srgbClr val="ECE6DC"/>
                </a:solidFill>
                <a:latin typeface="Calibri"/>
              </a:rPr>
              <a:t>12 достижений: стрики, идеальная неделя, питание, финансы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4663440"/>
          <a:ext cx="2743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41210"/>
                          </a:solidFill>
                          <a:latin typeface="Calibri"/>
                        </a:rPr>
                        <a:t>Уровень</a:t>
                      </a:r>
                    </a:p>
                  </a:txBody>
                  <a:tcPr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41210"/>
                          </a:solidFill>
                          <a:latin typeface="Calibri"/>
                        </a:rPr>
                        <a:t>Нужно XP</a:t>
                      </a:r>
                    </a:p>
                  </a:txBody>
                  <a:tcPr anchor="ctr">
                    <a:solidFill>
                      <a:srgbClr val="D96E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1600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4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937760" cy="3086100"/>
          </a:xfrm>
          <a:prstGeom prst="rect">
            <a:avLst/>
          </a:prstGeom>
          <a:ln w="12700">
            <a:solidFill>
              <a:srgbClr val="E8B44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766560" y="521208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1">
                <a:solidFill>
                  <a:srgbClr val="A99E8E"/>
                </a:solidFill>
                <a:latin typeface="Calibri"/>
              </a:rPr>
              <a:t>Дашборд: ранг, уровень, опыт, стрики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B44A"/>
                </a:solidFill>
                <a:latin typeface="Calibri"/>
              </a:rPr>
              <a:t>Сравнение с аналогами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828800" cy="508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D96E2E"/>
                </a:solidFill>
                <a:latin typeface="Calibri"/>
              </a:rPr>
              <a:t>Почему наше решение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8B44A"/>
                          </a:solidFill>
                          <a:latin typeface="Calibri"/>
                        </a:rPr>
                        <a:t>Возможность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41210"/>
                          </a:solidFill>
                          <a:latin typeface="Calibri"/>
                        </a:rPr>
                        <a:t>FORMANIMA</a:t>
                      </a:r>
                    </a:p>
                  </a:txBody>
                  <a:tcPr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E8B44A"/>
                          </a:solidFill>
                          <a:latin typeface="Calibri"/>
                        </a:rPr>
                        <a:t>Habitica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E8B44A"/>
                          </a:solidFill>
                          <a:latin typeface="Calibri"/>
                        </a:rPr>
                        <a:t>Forest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E8B44A"/>
                          </a:solidFill>
                          <a:latin typeface="Calibri"/>
                        </a:rPr>
                        <a:t>Loop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Привычки и действия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7FB86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Цели с этапами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7FB86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Геймификация (уровни/ранги)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7FB86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Учёт финансов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7FB86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Учёт калорий (КБЖУ)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7FB86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Всё в одном приложении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7FB86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CE6DC"/>
                          </a:solidFill>
                          <a:latin typeface="Calibri"/>
                        </a:rPr>
                        <a:t>Русский язык / свой хостинг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7FB86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2A23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A99E8E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anchor="ctr">
                    <a:solidFill>
                      <a:srgbClr val="1F1B1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E8B44A"/>
                </a:solidFill>
                <a:latin typeface="Calibri"/>
              </a:rPr>
              <a:t>Ниша FORMANIMA — единственное решение, объединяющее привычки, цели, финансы и питание под одной системой мотивации.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9E8E"/>
                </a:solidFill>
                <a:latin typeface="Calibri"/>
              </a:rPr>
              <a:t>FORMANIMA ·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E8B44A"/>
                </a:solidFill>
                <a:latin typeface="Calibri"/>
              </a:rPr>
              <a:t>Доклад окончен, благодарю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A99E8E"/>
                </a:solidFill>
                <a:latin typeface="Calibri"/>
              </a:rPr>
              <a:t>FORMANIMA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